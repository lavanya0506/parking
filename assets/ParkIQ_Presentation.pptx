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E94560"/>
                </a:solidFill>
              </a:rPr>
              <a:t>ParkIQ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AI-Powered Parking Enforcement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</a:rPr>
              <a:t>Bengaluru Traffic Police | Flipkart Gridlock Hackathon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</a:rPr>
              <a:t>Problem Statement 1: Parking-Induced Congestion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1371600"/>
            <a:ext cx="292608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1554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94560"/>
                </a:solidFill>
              </a:rPr>
              <a:t>298,450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AAAA"/>
                </a:solidFill>
              </a:rPr>
              <a:t>BTP Violation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651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5A623"/>
                </a:solidFill>
              </a:rPr>
              <a:t>8,173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AAAA"/>
                </a:solidFill>
              </a:rPr>
              <a:t>ASTRAM Incidents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54 Police Stations</a:t>
            </a:r>
          </a:p>
        </p:txBody>
      </p:sp>
      <p:pic>
        <p:nvPicPr>
          <p:cNvPr id="14" name="Picture 13" descr="fk-icon-CTp-Fh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0312" y="64008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314432" y="100584"/>
            <a:ext cx="1234440" cy="274320"/>
          </a:xfrm>
          <a:prstGeom prst="rect">
            <a:avLst/>
          </a:prstGeom>
          <a:noFill/>
          <a:solidFill>
            <a:srgbClr val="1A1500">
              <a:alpha val="90000"/>
            </a:srgbClr>
          </a:solidFill>
          <a:ln w="9525">
            <a:solidFill>
              <a:srgbClr val="FFD000"/>
            </a:solidFill>
          </a:ln>
          <a:prstGeom prst="roundRect"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D000"/>
                </a:solidFill>
              </a:rPr>
              <a:t>Team MetaBot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</a:rPr>
              <a:t>Bengaluru loses 60+ minutes/day per commuter to traffic congestion.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114300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105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560"/>
                </a:solidFill>
              </a:rPr>
              <a:t>🚫  No 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10512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BTP has no real-time map of where illegal parking is actively blocking traffic right now.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39"/>
            <a:ext cx="114300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0779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560"/>
                </a:solidFill>
              </a:rPr>
              <a:t>📍  Reactive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907791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Officers are sent based on complaints — not data. High-impact zones go unpatrolled.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931920"/>
            <a:ext cx="114300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005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560"/>
                </a:solidFill>
              </a:rPr>
              <a:t>📊  No Impact Measurement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005072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There's no metric linking parking violations to downstream congestion events.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023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560"/>
                </a:solidFill>
              </a:rPr>
              <a:t>⏰  Missed Peak Windows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102352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Morning rush (9–11 AM) sees the most violations, but officer deployment doesn't match.</a:t>
            </a:r>
          </a:p>
        </p:txBody>
      </p:sp>
      <p:pic>
        <p:nvPicPr>
          <p:cNvPr id="18" name="Picture 17" descr="fk-icon-CTp-Fh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0312" y="64008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314432" y="100584"/>
            <a:ext cx="1234440" cy="274320"/>
          </a:xfrm>
          <a:prstGeom prst="rect">
            <a:avLst/>
          </a:prstGeom>
          <a:noFill/>
          <a:solidFill>
            <a:srgbClr val="1A1500">
              <a:alpha val="90000"/>
            </a:srgbClr>
          </a:solidFill>
          <a:ln w="9525">
            <a:solidFill>
              <a:srgbClr val="FFD000"/>
            </a:solidFill>
          </a:ln>
          <a:prstGeom prst="roundRect"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D000"/>
                </a:solidFill>
              </a:rPr>
              <a:t>Team MetaBot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Solution: ParkIQ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AAAAA"/>
                </a:solidFill>
              </a:rPr>
              <a:t>8-tab Streamlit intelligence platform — from raw violation data to deployable patrol schedules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36576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560"/>
                </a:solidFill>
              </a:rPr>
              <a:t>🗺️  Live Heatmap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Violation density + severity
across Bengaluru (3 view modes)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6576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783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560"/>
                </a:solidFill>
              </a:rPr>
              <a:t>🔥  Hotspot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2402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Priority-scored junctions
4-factor composite scoring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645920"/>
            <a:ext cx="36576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783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560"/>
                </a:solidFill>
              </a:rPr>
              <a:t>⏰  Temporal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2402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Hourly, daily, monthly
violation profiles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36576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77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560"/>
                </a:solidFill>
              </a:rPr>
              <a:t>📊  Impact Quantification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ASTRAM cross-correlation
Vehicle-hour loss estimates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840480"/>
            <a:ext cx="36576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977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560"/>
                </a:solidFill>
              </a:rPr>
              <a:t>🎯  Smart Patrol Advisor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4348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Time-aware: select hour+day
→ top junctions to deploy NOW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840480"/>
            <a:ext cx="36576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3977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560"/>
                </a:solidFill>
              </a:rPr>
              <a:t>🛣️  Corridor Risk +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4348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21 ASTRAM corridors ranked
Random Forest AUC 0.89</a:t>
            </a:r>
          </a:p>
        </p:txBody>
      </p:sp>
      <p:pic>
        <p:nvPicPr>
          <p:cNvPr id="24" name="Picture 23" descr="fk-icon-CTp-Fh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0312" y="64008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314432" y="100584"/>
            <a:ext cx="1234440" cy="274320"/>
          </a:xfrm>
          <a:prstGeom prst="rect">
            <a:avLst/>
          </a:prstGeom>
          <a:noFill/>
          <a:solidFill>
            <a:srgbClr val="1A1500">
              <a:alpha val="90000"/>
            </a:srgbClr>
          </a:solidFill>
          <a:ln w="9525">
            <a:solidFill>
              <a:srgbClr val="FFD000"/>
            </a:solidFill>
          </a:ln>
          <a:prstGeom prst="roundRect"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D000"/>
                </a:solidFill>
              </a:rPr>
              <a:t>Team MetaBot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Data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48640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560"/>
                </a:solidFill>
              </a:rPr>
              <a:t>Dataset 1: BTP Parking Violations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</a:rPr>
              <a:t>Records: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87451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298,450 raw / 115,400 approved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</a:rPr>
              <a:t>Period: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5146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Nov 2023 – Apr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79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</a:rPr>
              <a:t>Fields: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15467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GPS coords, vehicle type, violation type, junction, police station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59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</a:rPr>
              <a:t>Junctions: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79475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Labelled BTP junction codes (BTP051, BTP082…)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</a:rPr>
              <a:t>Coverage: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4348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54 police stations across Bengaluru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097280"/>
            <a:ext cx="548640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</a:rPr>
              <a:t>Dataset 2: ASTRAM Traffic Incidents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874519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560"/>
                </a:solidFill>
              </a:rPr>
              <a:t>Records: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187451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8,173 traffic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146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560"/>
                </a:solidFill>
              </a:rPr>
              <a:t>Period: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514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Nov 2023 – Apr 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154679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560"/>
                </a:solidFill>
              </a:rPr>
              <a:t>Fields: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15467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Event type, cause, start/resolve time, priority, corridor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794759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560"/>
                </a:solidFill>
              </a:rPr>
              <a:t>Types: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79475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Planned / Unplanned (accidents, breakdowns, congestion)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4348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560"/>
                </a:solidFill>
              </a:rPr>
              <a:t>Coverage: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434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54 police stations — same as Dataset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394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A623"/>
                </a:solidFill>
              </a:rPr>
              <a:t>Both datasets share exactly 54 police stations — enabling direct cross-analysis.</a:t>
            </a:r>
          </a:p>
        </p:txBody>
      </p:sp>
      <p:pic>
        <p:nvPicPr>
          <p:cNvPr id="30" name="Picture 29" descr="fk-icon-CTp-Fh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0312" y="64008"/>
            <a:ext cx="384048" cy="3840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314432" y="100584"/>
            <a:ext cx="1234440" cy="274320"/>
          </a:xfrm>
          <a:prstGeom prst="rect">
            <a:avLst/>
          </a:prstGeom>
          <a:noFill/>
          <a:solidFill>
            <a:srgbClr val="1A1500">
              <a:alpha val="90000"/>
            </a:srgbClr>
          </a:solidFill>
          <a:ln w="9525">
            <a:solidFill>
              <a:srgbClr val="FFD000"/>
            </a:solidFill>
          </a:ln>
          <a:prstGeom prst="roundRect"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D000"/>
                </a:solidFill>
              </a:rPr>
              <a:t>Team MetaBot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AAAA"/>
                </a:solidFill>
              </a:rPr>
              <a:t>Top Hotspot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94560"/>
                </a:solidFill>
              </a:rPr>
              <a:t>BTP051 — Safina Plaza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5,882 violations (approved); #1 priority enforcement zone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48640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AAAA"/>
                </a:solidFill>
              </a:rPr>
              <a:t>Peak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94560"/>
                </a:solidFill>
              </a:rPr>
              <a:t>10:00 AM 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Morning rush is the #1 enforcement opportunity daily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34640"/>
            <a:ext cx="548640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AAAA"/>
                </a:solidFill>
              </a:rPr>
              <a:t>Vehicle Dominance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46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94560"/>
                </a:solidFill>
              </a:rPr>
              <a:t>Cars = top offender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03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High physical impact — wider lane blockage per vehicle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834640"/>
            <a:ext cx="548640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926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AAAA"/>
                </a:solidFill>
              </a:rPr>
              <a:t>Concentration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246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94560"/>
                </a:solidFill>
              </a:rPr>
              <a:t>Top 5 junctions = ~40%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03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Of all named-junction violations — high leverage for targeting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80560"/>
            <a:ext cx="548640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572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AAAA"/>
                </a:solidFill>
              </a:rPr>
              <a:t>Enforcement Effect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92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94560"/>
                </a:solidFill>
              </a:rPr>
              <a:t>r = +0.79 (temporal)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349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Violations &amp; incidents peak at same hours — strong hourly correlation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480560"/>
            <a:ext cx="548640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572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AAAA"/>
                </a:solidFill>
              </a:rPr>
              <a:t>Spatial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892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94560"/>
                </a:solidFill>
              </a:rPr>
              <a:t>91% of incidents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349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of ASTRAM traffic incidents occur within 500 m of a parking violation cluster</a:t>
            </a:r>
          </a:p>
        </p:txBody>
      </p:sp>
      <p:pic>
        <p:nvPicPr>
          <p:cNvPr id="29" name="Picture 28" descr="fk-icon-CTp-Fh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0312" y="64008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314432" y="100584"/>
            <a:ext cx="1234440" cy="274320"/>
          </a:xfrm>
          <a:prstGeom prst="rect">
            <a:avLst/>
          </a:prstGeom>
          <a:noFill/>
          <a:solidFill>
            <a:srgbClr val="1A1500">
              <a:alpha val="90000"/>
            </a:srgbClr>
          </a:solidFill>
          <a:ln w="9525">
            <a:solidFill>
              <a:srgbClr val="FFD000"/>
            </a:solidFill>
          </a:ln>
          <a:prstGeom prst="roundRect"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D000"/>
                </a:solidFill>
              </a:rPr>
              <a:t>Team MetaBot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Priority Scoring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AAAAA"/>
                </a:solidFill>
              </a:rPr>
              <a:t>Each junction scored 0–1 using a 3-factor composite model (normalized 0→1):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1097280" cy="914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0F23"/>
                </a:solidFill>
              </a:rPr>
              <a:t>60%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554480"/>
            <a:ext cx="100584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64592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Frequency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01168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Total violations at junction / max violations — identifies chronic hotspots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43200"/>
            <a:ext cx="109728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0F23"/>
                </a:solidFill>
              </a:rPr>
              <a:t>25%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743200"/>
            <a:ext cx="100584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283464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Peak-Hour Concentration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20040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Violations during 8–11 AM / total — targets morning rush enforcement window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1097280" cy="914400"/>
          </a:xfrm>
          <a:prstGeom prst="rect">
            <a:avLst/>
          </a:prstGeom>
          <a:solidFill>
            <a:srgbClr val="4A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1148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0F23"/>
                </a:solidFill>
              </a:rPr>
              <a:t>15%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3931920"/>
            <a:ext cx="100584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402336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Vehicle Severity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38912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Avg severity weight (Truck=3× vs Scooter=0.5) — prioritises blockage impact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20640"/>
            <a:ext cx="1097280" cy="914400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3035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0F23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5120640"/>
            <a:ext cx="100584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0" y="521208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57784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25 HIGH · 58 MEDIUM · 84 LOW — across 167 BTP junctions
35 flagged near BMRC metro stations 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A623"/>
                </a:solidFill>
              </a:rPr>
              <a:t>Score = 0.60 × Freq + 0.25 × Peak + 0.15 × Severity  →  normalized to 0–1</a:t>
            </a:r>
          </a:p>
        </p:txBody>
      </p:sp>
      <p:pic>
        <p:nvPicPr>
          <p:cNvPr id="27" name="Picture 26" descr="fk-icon-CTp-Fh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0312" y="64008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314432" y="100584"/>
            <a:ext cx="1234440" cy="274320"/>
          </a:xfrm>
          <a:prstGeom prst="rect">
            <a:avLst/>
          </a:prstGeom>
          <a:noFill/>
          <a:solidFill>
            <a:srgbClr val="1A1500">
              <a:alpha val="90000"/>
            </a:srgbClr>
          </a:solidFill>
          <a:ln w="9525">
            <a:solidFill>
              <a:srgbClr val="FFD000"/>
            </a:solidFill>
          </a:ln>
          <a:prstGeom prst="roundRect"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D000"/>
                </a:solidFill>
              </a:rPr>
              <a:t>Team MetaBot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Smart Enforcement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</a:rPr>
              <a:t>Officers  →  Patrol Advisor  →  Zones  →  Shifts  →  Deploy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640080" cy="7315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554480"/>
            <a:ext cx="164592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691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691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Dispatcher sets available officer count (5–30)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640080" cy="7315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560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468880"/>
            <a:ext cx="164592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606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RANK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6060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System ranks junctions by composite priority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83280"/>
            <a:ext cx="640080" cy="7315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474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383280"/>
            <a:ext cx="164592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520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ASSIGN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5204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Smart Patrol Advisor: select day + hour → top 5 junctions with historical violation counts at that exact time window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97680"/>
            <a:ext cx="640080" cy="7315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3891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297680"/>
            <a:ext cx="164592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4348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4348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Interactive Folium map shows each officer's location + popup with zone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212080"/>
            <a:ext cx="640080" cy="7315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303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5212080"/>
            <a:ext cx="164592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349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3492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Sunday 09:00 → Safina Plaza (271 violations), Elite (131) — real data, real decisions</a:t>
            </a:r>
          </a:p>
        </p:txBody>
      </p:sp>
      <p:pic>
        <p:nvPicPr>
          <p:cNvPr id="31" name="Picture 30" descr="fk-icon-CTp-Fh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0312" y="64008"/>
            <a:ext cx="384048" cy="3840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314432" y="100584"/>
            <a:ext cx="1234440" cy="274320"/>
          </a:xfrm>
          <a:prstGeom prst="rect">
            <a:avLst/>
          </a:prstGeom>
          <a:noFill/>
          <a:solidFill>
            <a:srgbClr val="1A1500">
              <a:alpha val="90000"/>
            </a:srgbClr>
          </a:solidFill>
          <a:ln w="9525">
            <a:solidFill>
              <a:srgbClr val="FFD000"/>
            </a:solidFill>
          </a:ln>
          <a:prstGeom prst="roundRect"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D000"/>
                </a:solidFill>
              </a:rPr>
              <a:t>Team MetaBot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Impact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48640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560"/>
                </a:solidFill>
              </a:rPr>
              <a:t>Quantified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115,400 approved violations + 8,173 ASTRAM incidents cross-analysed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3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91% spatial co-location + r=0.79 temporal proof: parking drives congestion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35 metro-adjacent junctions flagged — spillover parking quantified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690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65 vehicle-hours lost per day (9,200 total) — quantified traffic flow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₹17 Cr/month economic cost — cost-benefit case for enforcement investment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097280"/>
            <a:ext cx="548640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</a:rP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1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→  Live BTP API integration for real-time violation feed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0603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→  Predictive model: forecast next-hour hotspot zones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375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→  Mobile officer app with push 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0690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→  Feedback loop: measure fine-rate vs incident-rate post-deployment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8006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→  Expand to PS2/PS3: incident detection + signal optimization</a:t>
            </a:r>
          </a:p>
        </p:txBody>
      </p:sp>
      <p:pic>
        <p:nvPicPr>
          <p:cNvPr id="19" name="Picture 18" descr="fk-icon-CTp-Fh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0312" y="64008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314432" y="100584"/>
            <a:ext cx="1234440" cy="274320"/>
          </a:xfrm>
          <a:prstGeom prst="rect">
            <a:avLst/>
          </a:prstGeom>
          <a:noFill/>
          <a:solidFill>
            <a:srgbClr val="1A1500">
              <a:alpha val="90000"/>
            </a:srgbClr>
          </a:solidFill>
          <a:ln w="9525">
            <a:solidFill>
              <a:srgbClr val="FFD000"/>
            </a:solidFill>
          </a:ln>
          <a:prstGeom prst="roundRect"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D000"/>
                </a:solidFill>
              </a:rPr>
              <a:t>Team MetaBot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